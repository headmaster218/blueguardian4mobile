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1" r:id="rId7"/>
    <p:sldId id="266" r:id="rId8"/>
    <p:sldId id="267" r:id="rId9"/>
    <p:sldId id="268" r:id="rId10"/>
    <p:sldId id="260" r:id="rId11"/>
    <p:sldId id="265" r:id="rId1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030A0"/>
    <a:srgbClr val="00B0F0"/>
    <a:srgbClr val="0070C0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987" autoAdjust="0"/>
    <p:restoredTop sz="88415" autoAdjust="0"/>
  </p:normalViewPr>
  <p:slideViewPr>
    <p:cSldViewPr snapToGrid="0" showGuides="1">
      <p:cViewPr varScale="1">
        <p:scale>
          <a:sx n="151" d="100"/>
          <a:sy n="151" d="100"/>
        </p:scale>
        <p:origin x="1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1476"/>
    </p:cViewPr>
  </p:sorterViewPr>
  <p:notesViewPr>
    <p:cSldViewPr snapToGrid="0" showGuides="1">
      <p:cViewPr>
        <p:scale>
          <a:sx n="100" d="100"/>
          <a:sy n="100" d="100"/>
        </p:scale>
        <p:origin x="28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AFA8042-29A1-4486-A765-7552698406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D8449A-A734-4B2E-9806-61303F24B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6DEE53-C081-4B7B-B839-093FA061E044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2025/3/1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605C2A-990C-4531-8CBF-BC3BEC0AF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7358FE-F7D5-4C85-B0FD-2394F7F87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5BAE485-B3C6-4830-BBC8-C6E008BDD690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628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214C369-E6FC-4A81-945F-17769819D88B}" type="datetime1">
              <a:rPr lang="zh-CN" altLang="en-US" smtClean="0"/>
              <a:t>2025/3/1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85ACE04-E13C-4837-B6DD-B388E7CAA05E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04410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92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425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9640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803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1373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805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4833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en-US" altLang="zh-CN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119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包含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rtlCol="0"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4D605F7-048D-45C7-9E90-FCCBBDCC185E}" type="datetime1">
              <a:rPr lang="zh-CN" altLang="en-US" smtClean="0"/>
              <a:t>2025/3/1</a:t>
            </a:fld>
            <a:endParaRPr lang="zh-CN" altLang="en-US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椭圆形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椭圆形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椭圆形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5" name="椭圆形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椭圆形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9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大型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00000"/>
              </a:lnSpc>
              <a:buClr>
                <a:schemeClr val="accent1"/>
              </a:buClr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00000"/>
              </a:lnSpc>
              <a:buClr>
                <a:schemeClr val="accent1"/>
              </a:buClr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7" name="幻灯片编号占位符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8" name="内容占位符 16">
            <a:extLst>
              <a:ext uri="{FF2B5EF4-FFF2-40B4-BE49-F238E27FC236}">
                <a16:creationId xmlns:a16="http://schemas.microsoft.com/office/drawing/2014/main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 dirty="0"/>
              <a:t>公司名称</a:t>
            </a: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cxnSp>
        <p:nvCxnSpPr>
          <p:cNvPr id="11" name="直接连接符​​(S)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512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椭圆形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椭圆形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7" name="椭圆形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椭圆形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29901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4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三张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1046163"/>
            <a:ext cx="5445369" cy="1114784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2506662"/>
            <a:ext cx="5445370" cy="3454523"/>
          </a:xfrm>
        </p:spPr>
        <p:txBody>
          <a:bodyPr lIns="0" tIns="0" rIns="0" bIns="0" rtlCol="0">
            <a:noAutofit/>
          </a:bodyPr>
          <a:lstStyle>
            <a:lvl1pPr>
              <a:lnSpc>
                <a:spcPct val="100000"/>
              </a:lnSpc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lnSpc>
                <a:spcPct val="100000"/>
              </a:lnSpc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lnSpc>
                <a:spcPct val="100000"/>
              </a:lnSpc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lnSpc>
                <a:spcPct val="100000"/>
              </a:lnSpc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lnSpc>
                <a:spcPct val="100000"/>
              </a:lnSpc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7" name="幻灯片编号占位符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sp>
        <p:nvSpPr>
          <p:cNvPr id="8" name="内容占位符 16">
            <a:extLst>
              <a:ext uri="{FF2B5EF4-FFF2-40B4-BE49-F238E27FC236}">
                <a16:creationId xmlns:a16="http://schemas.microsoft.com/office/drawing/2014/main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 dirty="0"/>
              <a:t>公司名称</a:t>
            </a: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9755" y="1"/>
            <a:ext cx="3430408" cy="4091942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cxnSp>
        <p:nvCxnSpPr>
          <p:cNvPr id="11" name="直接连接符​​(S)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-24055" y="2286312"/>
            <a:ext cx="1584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椭圆形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椭圆形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7" name="椭圆形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椭圆形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1665401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9">
            <a:extLst>
              <a:ext uri="{FF2B5EF4-FFF2-40B4-BE49-F238E27FC236}">
                <a16:creationId xmlns:a16="http://schemas.microsoft.com/office/drawing/2014/main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2186" y="555157"/>
            <a:ext cx="2649814" cy="4298197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21" name="图片占位符 9">
            <a:extLst>
              <a:ext uri="{FF2B5EF4-FFF2-40B4-BE49-F238E27FC236}">
                <a16:creationId xmlns:a16="http://schemas.microsoft.com/office/drawing/2014/main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19754" y="4289110"/>
            <a:ext cx="3430407" cy="1672075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405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半副水平图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 dirty="0"/>
              <a:t>在此处添加标题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39691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28600" lvl="0" indent="-22860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 dirty="0"/>
              <a:t>公司名称</a:t>
            </a:r>
          </a:p>
        </p:txBody>
      </p:sp>
      <p:grpSp>
        <p:nvGrpSpPr>
          <p:cNvPr id="18" name="组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椭圆形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椭圆形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806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在此处输入标题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2D9B6D-CE43-4FB1-87C0-D3565E7302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9D73CD-EB11-4ED6-80CF-B68320D57E9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1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1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11" name="内容占位符 16">
            <a:extLst>
              <a:ext uri="{FF2B5EF4-FFF2-40B4-BE49-F238E27FC236}">
                <a16:creationId xmlns:a16="http://schemas.microsoft.com/office/drawing/2014/main" id="{57889B18-CC7E-47A7-B83B-45D7871D2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 dirty="0"/>
              <a:t>公司名称</a:t>
            </a:r>
          </a:p>
        </p:txBody>
      </p:sp>
      <p:grpSp>
        <p:nvGrpSpPr>
          <p:cNvPr id="6" name="组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2422800" cy="134113"/>
            <a:chOff x="-24055" y="1452565"/>
            <a:chExt cx="2374534" cy="0"/>
          </a:xfrm>
        </p:grpSpPr>
        <p:cxnSp>
          <p:nvCxnSpPr>
            <p:cNvPr id="12" name="直接连接符​​(S)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(S)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9489" y="421045"/>
            <a:ext cx="0" cy="5768619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A09F60F9-61AE-4464-B369-1CF86DB708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124CEF01-2C7C-4568-8A45-5F5A058ECFC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1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1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23" name="图片占位符 8">
            <a:extLst>
              <a:ext uri="{FF2B5EF4-FFF2-40B4-BE49-F238E27FC236}">
                <a16:creationId xmlns:a16="http://schemas.microsoft.com/office/drawing/2014/main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在此处输入图标</a:t>
            </a:r>
          </a:p>
        </p:txBody>
      </p:sp>
      <p:sp>
        <p:nvSpPr>
          <p:cNvPr id="24" name="图片占位符 8">
            <a:extLst>
              <a:ext uri="{FF2B5EF4-FFF2-40B4-BE49-F238E27FC236}">
                <a16:creationId xmlns:a16="http://schemas.microsoft.com/office/drawing/2014/main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在此处输入图标</a:t>
            </a:r>
          </a:p>
        </p:txBody>
      </p:sp>
      <p:sp>
        <p:nvSpPr>
          <p:cNvPr id="25" name="椭圆形 24">
            <a:extLst>
              <a:ext uri="{FF2B5EF4-FFF2-40B4-BE49-F238E27FC236}">
                <a16:creationId xmlns:a16="http://schemas.microsoft.com/office/drawing/2014/main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椭圆形 25">
            <a:extLst>
              <a:ext uri="{FF2B5EF4-FFF2-40B4-BE49-F238E27FC236}">
                <a16:creationId xmlns:a16="http://schemas.microsoft.com/office/drawing/2014/main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6F2CCF2-293A-49CA-B2A9-134BB5DEF98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rtlCol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grpSp>
        <p:nvGrpSpPr>
          <p:cNvPr id="27" name="组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椭圆形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椭圆形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椭圆形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椭圆形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905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半幅紫色垂直图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长方形 3">
            <a:extLst>
              <a:ext uri="{FF2B5EF4-FFF2-40B4-BE49-F238E27FC236}">
                <a16:creationId xmlns:a16="http://schemas.microsoft.com/office/drawing/2014/main" id="{9536DA47-61AF-4CF1-8DF3-3721934D13E3}"/>
              </a:ext>
            </a:extLst>
          </p:cNvPr>
          <p:cNvSpPr/>
          <p:nvPr userDrawn="1"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长方形 4">
            <a:extLst>
              <a:ext uri="{FF2B5EF4-FFF2-40B4-BE49-F238E27FC236}">
                <a16:creationId xmlns:a16="http://schemas.microsoft.com/office/drawing/2014/main" id="{056FD760-FBDC-4410-A039-469F7931D3A3}"/>
              </a:ext>
            </a:extLst>
          </p:cNvPr>
          <p:cNvSpPr/>
          <p:nvPr userDrawn="1"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51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 dirty="0"/>
              <a:t>在此处添加标题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28600" lvl="0" indent="-22860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454991" y="1620451"/>
            <a:ext cx="756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 dirty="0"/>
              <a:t>公司名称</a:t>
            </a:r>
          </a:p>
        </p:txBody>
      </p:sp>
      <p:grpSp>
        <p:nvGrpSpPr>
          <p:cNvPr id="13" name="组 12">
            <a:extLst>
              <a:ext uri="{FF2B5EF4-FFF2-40B4-BE49-F238E27FC236}">
                <a16:creationId xmlns:a16="http://schemas.microsoft.com/office/drawing/2014/main" id="{C5F2EA84-5150-479B-86D5-F4BAE1263488}"/>
              </a:ext>
            </a:extLst>
          </p:cNvPr>
          <p:cNvGrpSpPr/>
          <p:nvPr userDrawn="1"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椭圆形 15">
              <a:extLst>
                <a:ext uri="{FF2B5EF4-FFF2-40B4-BE49-F238E27FC236}">
                  <a16:creationId xmlns:a16="http://schemas.microsoft.com/office/drawing/2014/main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174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885" y="2704121"/>
            <a:ext cx="6556248" cy="750278"/>
          </a:xfrm>
        </p:spPr>
        <p:txBody>
          <a:bodyPr rtlCol="0"/>
          <a:lstStyle>
            <a:lvl1pPr>
              <a:defRPr lang="en-US" sz="4800" b="1" kern="1200" cap="all" baseline="0" smtClean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</a:lstStyle>
          <a:p>
            <a:pPr rtl="0"/>
            <a:r>
              <a:rPr lang="zh-CN" altLang="en-US" noProof="0" dirty="0"/>
              <a:t>谢谢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522F8DE-203F-406B-A456-1E161B1F03FA}" type="datetime1">
              <a:rPr lang="zh-CN" altLang="en-US" smtClean="0"/>
              <a:t>2025/3/1</a:t>
            </a:fld>
            <a:endParaRPr lang="zh-CN" altLang="en-US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3760408"/>
            <a:ext cx="864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5" name="椭圆形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椭圆形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23" name="图形 22" descr="信封">
            <a:extLst>
              <a:ext uri="{FF2B5EF4-FFF2-40B4-BE49-F238E27FC236}">
                <a16:creationId xmlns:a16="http://schemas.microsoft.com/office/drawing/2014/main" id="{3C32C7E5-809C-4E12-8962-1B868951E6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4803" y="4029040"/>
            <a:ext cx="469232" cy="469232"/>
          </a:xfrm>
          <a:prstGeom prst="rect">
            <a:avLst/>
          </a:prstGeom>
        </p:spPr>
      </p:pic>
      <p:sp>
        <p:nvSpPr>
          <p:cNvPr id="34" name="副标题 2">
            <a:extLst>
              <a:ext uri="{FF2B5EF4-FFF2-40B4-BE49-F238E27FC236}">
                <a16:creationId xmlns:a16="http://schemas.microsoft.com/office/drawing/2014/main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809" y="4126311"/>
            <a:ext cx="3640478" cy="433938"/>
          </a:xfrm>
        </p:spPr>
        <p:txBody>
          <a:bodyPr rtlCol="0">
            <a:normAutofit/>
          </a:bodyPr>
          <a:lstStyle>
            <a:lvl1pPr marL="0" indent="0" algn="l">
              <a:buNone/>
              <a:defRPr sz="1800" b="0" cap="none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39" name="内容占位符 38">
            <a:extLst>
              <a:ext uri="{FF2B5EF4-FFF2-40B4-BE49-F238E27FC236}">
                <a16:creationId xmlns:a16="http://schemas.microsoft.com/office/drawing/2014/main" id="{382940E6-7963-411F-B35A-57121171A98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08614" y="4836222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 rtl="0"/>
            <a:r>
              <a:rPr lang="zh-CN" altLang="en-US" noProof="0" dirty="0"/>
              <a:t>编辑母版文本样式</a:t>
            </a:r>
          </a:p>
        </p:txBody>
      </p:sp>
      <p:grpSp>
        <p:nvGrpSpPr>
          <p:cNvPr id="20" name="组 19">
            <a:extLst>
              <a:ext uri="{FF2B5EF4-FFF2-40B4-BE49-F238E27FC236}">
                <a16:creationId xmlns:a16="http://schemas.microsoft.com/office/drawing/2014/main" id="{1F8FC2D7-B114-3444-8684-995FC4D6D459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椭圆形 21">
              <a:extLst>
                <a:ext uri="{FF2B5EF4-FFF2-40B4-BE49-F238E27FC236}">
                  <a16:creationId xmlns:a16="http://schemas.microsoft.com/office/drawing/2014/main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椭圆形 23">
              <a:extLst>
                <a:ext uri="{FF2B5EF4-FFF2-40B4-BE49-F238E27FC236}">
                  <a16:creationId xmlns:a16="http://schemas.microsoft.com/office/drawing/2014/main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椭圆形 25">
              <a:extLst>
                <a:ext uri="{FF2B5EF4-FFF2-40B4-BE49-F238E27FC236}">
                  <a16:creationId xmlns:a16="http://schemas.microsoft.com/office/drawing/2014/main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3" name="图形 2" descr="链接">
            <a:extLst>
              <a:ext uri="{FF2B5EF4-FFF2-40B4-BE49-F238E27FC236}">
                <a16:creationId xmlns:a16="http://schemas.microsoft.com/office/drawing/2014/main" id="{16E3F5A0-978F-8D46-BBFB-19A7F7883D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152" y="4809677"/>
            <a:ext cx="542081" cy="5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rtlCol="0"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2FF128B-DCF4-4F34-A8CD-06EEF52E8EA4}" type="datetime1">
              <a:rPr lang="zh-CN" altLang="en-US" smtClean="0"/>
              <a:t>2025/3/1</a:t>
            </a:fld>
            <a:endParaRPr lang="zh-CN" altLang="en-US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椭圆形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椭圆形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椭圆形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5" name="椭圆形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椭圆形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长方形 16">
            <a:extLst>
              <a:ext uri="{FF2B5EF4-FFF2-40B4-BE49-F238E27FC236}">
                <a16:creationId xmlns:a16="http://schemas.microsoft.com/office/drawing/2014/main" id="{25F8A1A8-E078-4836-ABD1-CD4E75BBF58F}"/>
              </a:ext>
            </a:extLst>
          </p:cNvPr>
          <p:cNvSpPr/>
          <p:nvPr userDrawn="1"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17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幻灯片编号占位符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​​(S)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椭圆形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椭圆形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7" name="椭圆形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椭圆形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长方形 18">
            <a:extLst>
              <a:ext uri="{FF2B5EF4-FFF2-40B4-BE49-F238E27FC236}">
                <a16:creationId xmlns:a16="http://schemas.microsoft.com/office/drawing/2014/main" id="{9A55704E-D515-4774-90C6-5F887DDAE55E}"/>
              </a:ext>
            </a:extLst>
          </p:cNvPr>
          <p:cNvSpPr/>
          <p:nvPr userDrawn="1"/>
        </p:nvSpPr>
        <p:spPr>
          <a:xfrm>
            <a:off x="469044" y="1"/>
            <a:ext cx="5210176" cy="596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84878778-0299-471F-A4C9-D0C1E82ED8D2}"/>
              </a:ext>
            </a:extLst>
          </p:cNvPr>
          <p:cNvCxnSpPr>
            <a:cxnSpLocks/>
          </p:cNvCxnSpPr>
          <p:nvPr userDrawn="1"/>
        </p:nvCxnSpPr>
        <p:spPr>
          <a:xfrm>
            <a:off x="1001746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 rtlCol="0"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3405997-7AE2-4C6E-8A7D-735F58A49D1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>
              <a:lnSpc>
                <a:spcPct val="100000"/>
              </a:lnSpc>
              <a:buNone/>
            </a:pPr>
            <a:r>
              <a:rPr lang="zh-CN" altLang="en-US" noProof="0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3153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椭圆形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椭圆形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BE814D66-F00F-0D44-AD03-889FEE787E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单击以编辑模板标题样式</a:t>
            </a:r>
          </a:p>
        </p:txBody>
      </p:sp>
      <p:sp>
        <p:nvSpPr>
          <p:cNvPr id="16" name="椭圆形 15">
            <a:extLst>
              <a:ext uri="{FF2B5EF4-FFF2-40B4-BE49-F238E27FC236}">
                <a16:creationId xmlns:a16="http://schemas.microsoft.com/office/drawing/2014/main" id="{44C85E5F-5B5E-48CC-8469-0263621D91FF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椭圆形 16">
            <a:extLst>
              <a:ext uri="{FF2B5EF4-FFF2-40B4-BE49-F238E27FC236}">
                <a16:creationId xmlns:a16="http://schemas.microsoft.com/office/drawing/2014/main" id="{7EE4E300-6C8E-4262-BE1D-587C7B70E7ED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97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椭圆形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椭圆形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6E22FA8C-3243-4716-A6BD-F37D6058FB4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47381" y="1825625"/>
            <a:ext cx="5481203" cy="435133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8ABE3FD8-339C-4F75-876F-8347ADE67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3416" y="1825625"/>
            <a:ext cx="5481203" cy="435133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25" name="椭圆形 24">
            <a:extLst>
              <a:ext uri="{FF2B5EF4-FFF2-40B4-BE49-F238E27FC236}">
                <a16:creationId xmlns:a16="http://schemas.microsoft.com/office/drawing/2014/main" id="{E72FB389-5EA4-4084-B7A2-A4D0A43561F6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椭圆形 25">
            <a:extLst>
              <a:ext uri="{FF2B5EF4-FFF2-40B4-BE49-F238E27FC236}">
                <a16:creationId xmlns:a16="http://schemas.microsoft.com/office/drawing/2014/main" id="{F7783FE1-0115-4345-89B2-C073569FB8EE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3661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椭圆形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椭圆形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7" name="文本占位符 4">
            <a:extLst>
              <a:ext uri="{FF2B5EF4-FFF2-40B4-BE49-F238E27FC236}">
                <a16:creationId xmlns:a16="http://schemas.microsoft.com/office/drawing/2014/main" id="{9F73353B-C50B-4A8A-87CF-657C1EB8940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47380" y="1681163"/>
            <a:ext cx="5481203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28" name="内容占位符 5">
            <a:extLst>
              <a:ext uri="{FF2B5EF4-FFF2-40B4-BE49-F238E27FC236}">
                <a16:creationId xmlns:a16="http://schemas.microsoft.com/office/drawing/2014/main" id="{5EFF7F5E-3221-4390-9B17-D1944365BF1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47379" y="2586215"/>
            <a:ext cx="5481203" cy="360344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9506B516-77C1-431B-A8A5-68FA5D4B6D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3416" y="1681163"/>
            <a:ext cx="548120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30" name="内容占位符 3">
            <a:extLst>
              <a:ext uri="{FF2B5EF4-FFF2-40B4-BE49-F238E27FC236}">
                <a16:creationId xmlns:a16="http://schemas.microsoft.com/office/drawing/2014/main" id="{860F1452-CAB9-4154-ADCC-9245E71D0D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3416" y="2586215"/>
            <a:ext cx="5481202" cy="360344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31" name="椭圆形 30">
            <a:extLst>
              <a:ext uri="{FF2B5EF4-FFF2-40B4-BE49-F238E27FC236}">
                <a16:creationId xmlns:a16="http://schemas.microsoft.com/office/drawing/2014/main" id="{12892DF4-5A8A-4E92-A425-210ABE570F58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椭圆形 31">
            <a:extLst>
              <a:ext uri="{FF2B5EF4-FFF2-40B4-BE49-F238E27FC236}">
                <a16:creationId xmlns:a16="http://schemas.microsoft.com/office/drawing/2014/main" id="{99AE2680-A46C-4B06-9ED9-53E617C1F17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278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 dirty="0"/>
              <a:t>在此处添加标题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椭圆形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2" name="椭圆形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86E0573A-023B-4D1C-8224-56A5D0DDF3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228600" lvl="0" indent="-228600" algn="ctr" rtl="0">
              <a:lnSpc>
                <a:spcPct val="100000"/>
              </a:lnSpc>
            </a:pPr>
            <a:r>
              <a:rPr lang="zh-CN" altLang="en-US" noProof="0" dirty="0"/>
              <a:t>编辑母版文本样式</a:t>
            </a:r>
          </a:p>
        </p:txBody>
      </p:sp>
      <p:sp>
        <p:nvSpPr>
          <p:cNvPr id="15" name="图片占位符 2">
            <a:extLst>
              <a:ext uri="{FF2B5EF4-FFF2-40B4-BE49-F238E27FC236}">
                <a16:creationId xmlns:a16="http://schemas.microsoft.com/office/drawing/2014/main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lvl="0" indent="0" algn="ctr" rtl="0">
              <a:buNone/>
            </a:pPr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2119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在此处输入标题</a:t>
            </a:r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grpSp>
        <p:nvGrpSpPr>
          <p:cNvPr id="6" name="组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直接连接符​​(S)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(S)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椭圆形 24">
            <a:extLst>
              <a:ext uri="{FF2B5EF4-FFF2-40B4-BE49-F238E27FC236}">
                <a16:creationId xmlns:a16="http://schemas.microsoft.com/office/drawing/2014/main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椭圆形 25">
            <a:extLst>
              <a:ext uri="{FF2B5EF4-FFF2-40B4-BE49-F238E27FC236}">
                <a16:creationId xmlns:a16="http://schemas.microsoft.com/office/drawing/2014/main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7" name="组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椭圆形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椭圆形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6" name="椭圆形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椭圆形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0" name="文本占位符 3">
            <a:extLst>
              <a:ext uri="{FF2B5EF4-FFF2-40B4-BE49-F238E27FC236}">
                <a16:creationId xmlns:a16="http://schemas.microsoft.com/office/drawing/2014/main" id="{1B247C0B-04BA-4D5C-A41D-AEA6021724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3416" y="2057400"/>
            <a:ext cx="3206261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194C619D-34F6-4A29-857A-D76007218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8084" y="246187"/>
            <a:ext cx="7467304" cy="5614864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9517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​​(S)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椭圆形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3" name="椭圆形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椭圆形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3" name="椭圆形 12">
            <a:extLst>
              <a:ext uri="{FF2B5EF4-FFF2-40B4-BE49-F238E27FC236}">
                <a16:creationId xmlns:a16="http://schemas.microsoft.com/office/drawing/2014/main" id="{82D9D565-739D-4898-97BD-79EB8C7F91EC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椭圆形 13">
            <a:extLst>
              <a:ext uri="{FF2B5EF4-FFF2-40B4-BE49-F238E27FC236}">
                <a16:creationId xmlns:a16="http://schemas.microsoft.com/office/drawing/2014/main" id="{620FADA3-E777-489C-976D-0B0C4FD31310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6514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grpSp>
        <p:nvGrpSpPr>
          <p:cNvPr id="4" name="组 3">
            <a:extLst>
              <a:ext uri="{FF2B5EF4-FFF2-40B4-BE49-F238E27FC236}">
                <a16:creationId xmlns:a16="http://schemas.microsoft.com/office/drawing/2014/main" id="{8DCE8039-0D05-4A75-878A-907B8D44B9E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椭圆形 4">
              <a:extLst>
                <a:ext uri="{FF2B5EF4-FFF2-40B4-BE49-F238E27FC236}">
                  <a16:creationId xmlns:a16="http://schemas.microsoft.com/office/drawing/2014/main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" name="椭圆形 5">
              <a:extLst>
                <a:ext uri="{FF2B5EF4-FFF2-40B4-BE49-F238E27FC236}">
                  <a16:creationId xmlns:a16="http://schemas.microsoft.com/office/drawing/2014/main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" name="椭圆形 6">
              <a:extLst>
                <a:ext uri="{FF2B5EF4-FFF2-40B4-BE49-F238E27FC236}">
                  <a16:creationId xmlns:a16="http://schemas.microsoft.com/office/drawing/2014/main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" name="椭圆形 7">
              <a:extLst>
                <a:ext uri="{FF2B5EF4-FFF2-40B4-BE49-F238E27FC236}">
                  <a16:creationId xmlns:a16="http://schemas.microsoft.com/office/drawing/2014/main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506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 rtl="0"/>
            <a:r>
              <a:rPr lang="zh-CN" altLang="en-US" noProof="0" dirty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8BB047D-A6CD-43AB-96F0-683C726B586B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6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62" r:id="rId5"/>
    <p:sldLayoutId id="2147483660" r:id="rId6"/>
    <p:sldLayoutId id="2147483663" r:id="rId7"/>
    <p:sldLayoutId id="2147483667" r:id="rId8"/>
    <p:sldLayoutId id="2147483668" r:id="rId9"/>
    <p:sldLayoutId id="2147483666" r:id="rId10"/>
    <p:sldLayoutId id="2147483669" r:id="rId11"/>
    <p:sldLayoutId id="2147483670" r:id="rId12"/>
    <p:sldLayoutId id="2147483671" r:id="rId13"/>
    <p:sldLayoutId id="2147483672" r:id="rId14"/>
    <p:sldLayoutId id="2147483664" r:id="rId15"/>
    <p:sldLayoutId id="214748366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s://github.com/Headmaster218/Thames-pollution-detect-I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占位符 35" descr="水上桥梁的鸟瞰图">
            <a:extLst>
              <a:ext uri="{FF2B5EF4-FFF2-40B4-BE49-F238E27FC236}">
                <a16:creationId xmlns:a16="http://schemas.microsoft.com/office/drawing/2014/main" id="{F7CD9EDC-C949-4D72-B04B-A61A034595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30359CD-8DFF-4AF2-B957-630ED2A60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Real-time river monitor</a:t>
            </a:r>
            <a:endParaRPr lang="zh-CN" altLang="en-US" sz="3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DF7D53-1D50-48D8-B3B4-B9632324B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John, Wu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C1D8CF-C187-4AE3-8613-F40912B9A732}"/>
              </a:ext>
            </a:extLst>
          </p:cNvPr>
          <p:cNvSpPr txBox="1"/>
          <p:nvPr/>
        </p:nvSpPr>
        <p:spPr>
          <a:xfrm>
            <a:off x="8303078" y="3429000"/>
            <a:ext cx="3050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3600" b="1" dirty="0"/>
              <a:t>-</a:t>
            </a:r>
            <a:r>
              <a:rPr lang="en-GB" altLang="zh-CN" sz="3600" b="1" dirty="0" err="1"/>
              <a:t>BlueGuardian</a:t>
            </a:r>
            <a:r>
              <a:rPr lang="en-GB" altLang="zh-CN" sz="3600" b="1" dirty="0"/>
              <a:t> </a:t>
            </a:r>
            <a:endParaRPr lang="zh-CN" altLang="en-US" sz="36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6C7588-DF83-439A-96D9-BA66471AF4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525"/>
          <a:stretch/>
        </p:blipFill>
        <p:spPr>
          <a:xfrm>
            <a:off x="10479857" y="285656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06440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占位符 22" descr="Beack 镇鸟瞰图">
            <a:extLst>
              <a:ext uri="{FF2B5EF4-FFF2-40B4-BE49-F238E27FC236}">
                <a16:creationId xmlns:a16="http://schemas.microsoft.com/office/drawing/2014/main" id="{D4E7378D-0752-482D-BA2B-045B98982F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5542"/>
            <a:ext cx="12192000" cy="3713018"/>
          </a:xfr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E68E31FD-BE74-4CB3-A5A5-65214835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3233"/>
            <a:ext cx="10515600" cy="823232"/>
          </a:xfrm>
        </p:spPr>
        <p:txBody>
          <a:bodyPr rtlCol="0"/>
          <a:lstStyle/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App overview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39EAE20-443B-4528-BBD6-32BD19163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872" y="4726408"/>
            <a:ext cx="11119104" cy="1436418"/>
          </a:xfrm>
        </p:spPr>
        <p:txBody>
          <a:bodyPr rtlCol="0"/>
          <a:lstStyle/>
          <a:p>
            <a:pPr>
              <a:lnSpc>
                <a:spcPct val="110000"/>
              </a:lnSpc>
            </a:pPr>
            <a:r>
              <a:rPr lang="en-US" altLang="zh-CN" dirty="0"/>
              <a:t>This </a:t>
            </a:r>
            <a:r>
              <a:rPr lang="en-US" altLang="zh-CN" b="1" dirty="0"/>
              <a:t>Real-time River Monitoring App</a:t>
            </a:r>
            <a:r>
              <a:rPr lang="en-US" altLang="zh-CN" dirty="0"/>
              <a:t> provides instant access to water quality data by integrating sensor networks. Users can monitor multiple rivers, view real-time quality status, and track sensor locations on an interactive map. The app displays live sensor data, including </a:t>
            </a:r>
            <a:r>
              <a:rPr lang="en-US" altLang="zh-CN" b="1" dirty="0"/>
              <a:t>Coli, pH, and TDS</a:t>
            </a:r>
            <a:r>
              <a:rPr lang="en-US" altLang="zh-CN" dirty="0"/>
              <a:t>, in both table and graph formats, with cloud-based connectivity ensuring real-time updates.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378E833-4562-4660-94DC-D642C584CBF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45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D22C0-3CE1-4FA1-9604-2CFDBC95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altLang="zh-CN" dirty="0"/>
              <a:t>Homepage Design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BC3F2-B4B0-476E-B1B8-BF10CC2F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2160947"/>
            <a:ext cx="5193322" cy="3454523"/>
          </a:xfrm>
        </p:spPr>
        <p:txBody>
          <a:bodyPr rtlCol="0"/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2000" b="1" dirty="0"/>
              <a:t>Content: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dirty="0"/>
              <a:t>Displays </a:t>
            </a:r>
            <a:r>
              <a:rPr lang="en-US" altLang="zh-CN" sz="2000" b="1" dirty="0"/>
              <a:t>maps</a:t>
            </a:r>
            <a:r>
              <a:rPr lang="en-US" altLang="zh-CN" sz="2000" dirty="0"/>
              <a:t> of the selected rivers.</a:t>
            </a:r>
          </a:p>
          <a:p>
            <a:pPr>
              <a:lnSpc>
                <a:spcPct val="200000"/>
              </a:lnSpc>
            </a:pPr>
            <a:r>
              <a:rPr lang="en-US" altLang="zh-CN" sz="2000" dirty="0"/>
              <a:t>Shows </a:t>
            </a:r>
            <a:r>
              <a:rPr lang="en-US" altLang="zh-CN" sz="2000" b="1" dirty="0"/>
              <a:t>sensor locations</a:t>
            </a:r>
            <a:r>
              <a:rPr lang="en-US" altLang="zh-CN" sz="2000" dirty="0"/>
              <a:t> on the river.</a:t>
            </a:r>
          </a:p>
          <a:p>
            <a:pPr>
              <a:lnSpc>
                <a:spcPct val="200000"/>
              </a:lnSpc>
            </a:pPr>
            <a:r>
              <a:rPr lang="en-US" altLang="zh-CN" sz="2000" dirty="0"/>
              <a:t>Water quality indicators (</a:t>
            </a:r>
            <a:r>
              <a:rPr lang="en-US" altLang="zh-CN" sz="2000" i="1" dirty="0"/>
              <a:t>Good</a:t>
            </a:r>
            <a:r>
              <a:rPr lang="en-US" altLang="zh-CN" sz="2000" dirty="0"/>
              <a:t>, </a:t>
            </a:r>
            <a:r>
              <a:rPr lang="en-US" altLang="zh-CN" sz="2000" i="1" dirty="0"/>
              <a:t>Poor</a:t>
            </a:r>
            <a:r>
              <a:rPr lang="en-US" altLang="zh-CN" sz="2000" dirty="0"/>
              <a:t>).</a:t>
            </a:r>
          </a:p>
          <a:p>
            <a:pPr>
              <a:lnSpc>
                <a:spcPct val="200000"/>
              </a:lnSpc>
            </a:pPr>
            <a:r>
              <a:rPr lang="en-GB" altLang="zh-CN" sz="2000" dirty="0"/>
              <a:t>“Add More River” option.</a:t>
            </a:r>
            <a:endParaRPr lang="en-US" altLang="zh-CN" sz="2000" dirty="0"/>
          </a:p>
        </p:txBody>
      </p:sp>
      <p:sp>
        <p:nvSpPr>
          <p:cNvPr id="9" name="内容占位符 17">
            <a:extLst>
              <a:ext uri="{FF2B5EF4-FFF2-40B4-BE49-F238E27FC236}">
                <a16:creationId xmlns:a16="http://schemas.microsoft.com/office/drawing/2014/main" id="{16AB4084-5C09-D047-AB9C-BB58097252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537A0E-6400-4A55-BF6F-91D27F49D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07035" y="0"/>
            <a:ext cx="4286251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D9CD4C-B12A-44C6-ABC2-A2C557EEC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507" y="3131914"/>
            <a:ext cx="1396775" cy="126831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C8E49F-D6C2-4F7B-A5A5-49BCA8840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210" y="1218745"/>
            <a:ext cx="1396775" cy="13519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75934C-A610-434A-B5AC-9F52357D1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0160" y="1218744"/>
            <a:ext cx="1396775" cy="13519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B5CD41D-4154-41E9-AC30-819F4772C8A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525"/>
          <a:stretch/>
        </p:blipFill>
        <p:spPr>
          <a:xfrm>
            <a:off x="115766" y="71920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8082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D22C0-3CE1-4FA1-9604-2CFDBC95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altLang="zh-CN" dirty="0"/>
              <a:t>River Detail Page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BC3F2-B4B0-476E-B1B8-BF10CC2F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066" y="2351836"/>
            <a:ext cx="6534253" cy="3454523"/>
          </a:xfrm>
        </p:spPr>
        <p:txBody>
          <a:bodyPr rtlCol="0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Content: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Displays a </a:t>
            </a:r>
            <a:r>
              <a:rPr lang="en-US" altLang="zh-CN" sz="2000" b="1" dirty="0"/>
              <a:t>map</a:t>
            </a:r>
            <a:r>
              <a:rPr lang="en-US" altLang="zh-CN" sz="2000" dirty="0"/>
              <a:t> of the selected river.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Shows </a:t>
            </a:r>
            <a:r>
              <a:rPr lang="en-US" altLang="zh-CN" sz="2000" b="1" dirty="0"/>
              <a:t>sensor locations</a:t>
            </a:r>
            <a:r>
              <a:rPr lang="en-US" altLang="zh-CN" sz="2000" dirty="0"/>
              <a:t> on the river.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Bottom section lists </a:t>
            </a:r>
            <a:r>
              <a:rPr lang="en-US" altLang="zh-CN" sz="2000" b="1" dirty="0"/>
              <a:t>real-time sensor readings.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Users can </a:t>
            </a:r>
            <a:r>
              <a:rPr lang="en-US" altLang="zh-CN" sz="2000" b="1" dirty="0"/>
              <a:t>click on a sensor</a:t>
            </a:r>
            <a:r>
              <a:rPr lang="en-US" altLang="zh-CN" sz="2000" dirty="0"/>
              <a:t> to view detailed data.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Navigation options: </a:t>
            </a:r>
            <a:r>
              <a:rPr lang="en-US" altLang="zh-CN" sz="2000" b="1" dirty="0"/>
              <a:t>Back or Home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zh-CN" sz="2000" dirty="0"/>
          </a:p>
        </p:txBody>
      </p:sp>
      <p:sp>
        <p:nvSpPr>
          <p:cNvPr id="9" name="内容占位符 17">
            <a:extLst>
              <a:ext uri="{FF2B5EF4-FFF2-40B4-BE49-F238E27FC236}">
                <a16:creationId xmlns:a16="http://schemas.microsoft.com/office/drawing/2014/main" id="{16AB4084-5C09-D047-AB9C-BB58097252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B0EAE5-5EDD-455C-A839-72E2A4241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9077" y="0"/>
            <a:ext cx="4348757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DE9FD5-9C13-433F-A260-302496AF870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8592" y="1511808"/>
            <a:ext cx="3477834" cy="26700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2D4AC0-0615-4A95-BEB0-DDF2A0E4EE1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525"/>
          <a:stretch/>
        </p:blipFill>
        <p:spPr>
          <a:xfrm>
            <a:off x="115766" y="71920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32267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832C16-7826-4CB7-B48D-645980A09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9077" y="0"/>
            <a:ext cx="4396636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3D22C0-3CE1-4FA1-9604-2CFDBC95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altLang="zh-CN" dirty="0"/>
              <a:t>Sensor Detail Page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BC3F2-B4B0-476E-B1B8-BF10CC2F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2357314"/>
            <a:ext cx="6825661" cy="3454523"/>
          </a:xfrm>
        </p:spPr>
        <p:txBody>
          <a:bodyPr rtlCol="0"/>
          <a:lstStyle/>
          <a:p>
            <a:pPr marL="0" indent="0">
              <a:buNone/>
            </a:pPr>
            <a:r>
              <a:rPr lang="en-US" altLang="zh-CN" sz="2000" b="1" dirty="0"/>
              <a:t>Content: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Users can switch between </a:t>
            </a:r>
            <a:r>
              <a:rPr lang="en-US" altLang="zh-CN" sz="2000" b="1" dirty="0"/>
              <a:t>table view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graph view</a:t>
            </a:r>
            <a:r>
              <a:rPr lang="en-US" altLang="zh-CN" sz="2000" dirty="0"/>
              <a:t> using two buttons.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Displays multiple sensor readings (e.g., Coli, pH).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A </a:t>
            </a:r>
            <a:r>
              <a:rPr lang="en-US" altLang="zh-CN" sz="2000" b="1" dirty="0"/>
              <a:t>scrollable timeline</a:t>
            </a:r>
            <a:r>
              <a:rPr lang="en-US" altLang="zh-CN" sz="2000" dirty="0"/>
              <a:t> at bottom to view history data.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Provides an intuitive interface for monitoring water quality trends.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zh-CN" sz="2000" dirty="0"/>
          </a:p>
        </p:txBody>
      </p:sp>
      <p:sp>
        <p:nvSpPr>
          <p:cNvPr id="9" name="内容占位符 17">
            <a:extLst>
              <a:ext uri="{FF2B5EF4-FFF2-40B4-BE49-F238E27FC236}">
                <a16:creationId xmlns:a16="http://schemas.microsoft.com/office/drawing/2014/main" id="{16AB4084-5C09-D047-AB9C-BB58097252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A4BA5A-B65E-45A9-9081-904EA695F7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180" r="18077"/>
          <a:stretch/>
        </p:blipFill>
        <p:spPr>
          <a:xfrm>
            <a:off x="7372857" y="5086350"/>
            <a:ext cx="4029075" cy="12477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A90903-4F2F-4A99-8B7F-EDCF091592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525"/>
          <a:stretch/>
        </p:blipFill>
        <p:spPr>
          <a:xfrm>
            <a:off x="115766" y="71920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2447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D22C0-3CE1-4FA1-9604-2CFDBC95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sensor</a:t>
            </a:r>
            <a:r>
              <a:rPr lang="en-GB" altLang="zh-CN" dirty="0"/>
              <a:t> graphic Page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BC3F2-B4B0-476E-B1B8-BF10CC2F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2357314"/>
            <a:ext cx="6825661" cy="3454523"/>
          </a:xfrm>
        </p:spPr>
        <p:txBody>
          <a:bodyPr rtlCol="0"/>
          <a:lstStyle/>
          <a:p>
            <a:pPr marL="0" indent="0">
              <a:buNone/>
            </a:pPr>
            <a:r>
              <a:rPr lang="en-US" altLang="zh-CN" sz="2000" b="1" dirty="0"/>
              <a:t>Content: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Users can switch between </a:t>
            </a:r>
            <a:r>
              <a:rPr lang="en-US" altLang="zh-CN" sz="2000" b="1" dirty="0"/>
              <a:t>table view</a:t>
            </a:r>
            <a:r>
              <a:rPr lang="en-US" altLang="zh-CN" sz="2000" dirty="0"/>
              <a:t> and </a:t>
            </a:r>
            <a:r>
              <a:rPr lang="en-US" altLang="zh-CN" sz="2000" b="1" dirty="0"/>
              <a:t>graph view</a:t>
            </a:r>
            <a:r>
              <a:rPr lang="en-US" altLang="zh-CN" sz="2000" dirty="0"/>
              <a:t> using two buttons.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Displays multiple sensor graphic (e.g., Coli, pH).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A </a:t>
            </a:r>
            <a:r>
              <a:rPr lang="en-US" altLang="zh-CN" sz="2000" b="1" dirty="0"/>
              <a:t>scrollable timeline</a:t>
            </a:r>
            <a:r>
              <a:rPr lang="en-US" altLang="zh-CN" sz="2000" dirty="0"/>
              <a:t> at bottom to view history data.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Provides an intuitive interface for monitoring water quality trends.</a:t>
            </a:r>
          </a:p>
          <a:p>
            <a:pPr marL="0" indent="0">
              <a:lnSpc>
                <a:spcPct val="200000"/>
              </a:lnSpc>
              <a:buNone/>
            </a:pPr>
            <a:endParaRPr lang="en-US" altLang="zh-CN" sz="2000" dirty="0"/>
          </a:p>
        </p:txBody>
      </p:sp>
      <p:sp>
        <p:nvSpPr>
          <p:cNvPr id="9" name="内容占位符 17">
            <a:extLst>
              <a:ext uri="{FF2B5EF4-FFF2-40B4-BE49-F238E27FC236}">
                <a16:creationId xmlns:a16="http://schemas.microsoft.com/office/drawing/2014/main" id="{16AB4084-5C09-D047-AB9C-BB58097252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F63121-9085-4BA8-8CE0-A7B868D0D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9076" y="-14893"/>
            <a:ext cx="4036942" cy="68728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C0728B-927E-46CB-BF2A-3413C2A02C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180" r="18077"/>
          <a:stretch/>
        </p:blipFill>
        <p:spPr>
          <a:xfrm>
            <a:off x="7196943" y="5339557"/>
            <a:ext cx="4029075" cy="9627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B8877C1-724B-4E77-BC75-D87809C416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525"/>
          <a:stretch/>
        </p:blipFill>
        <p:spPr>
          <a:xfrm>
            <a:off x="115766" y="71920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75517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02C0A42-6D1B-4B6E-959B-1609A382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altLang="zh-CN" dirty="0"/>
              <a:t>Backend Data Flow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E42C9A-B4DC-4A46-A073-8421E387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29" y="2506662"/>
            <a:ext cx="5950635" cy="3454523"/>
          </a:xfrm>
        </p:spPr>
        <p:txBody>
          <a:bodyPr rtlCol="0"/>
          <a:lstStyle/>
          <a:p>
            <a:pPr marL="0" indent="0">
              <a:buNone/>
            </a:pPr>
            <a:r>
              <a:rPr lang="en-US" altLang="zh-CN" sz="1600" b="1" dirty="0"/>
              <a:t>1. Data Collection</a:t>
            </a:r>
          </a:p>
          <a:p>
            <a:r>
              <a:rPr lang="en-US" altLang="zh-CN" sz="1600" dirty="0"/>
              <a:t>Monitoring stations collect raw analog data from sensors.</a:t>
            </a:r>
          </a:p>
          <a:p>
            <a:r>
              <a:rPr lang="en-US" altLang="zh-CN" sz="1600" dirty="0"/>
              <a:t>Pre-processing is performed to clean and format data.</a:t>
            </a:r>
          </a:p>
          <a:p>
            <a:pPr marL="0" indent="0">
              <a:buNone/>
            </a:pPr>
            <a:r>
              <a:rPr lang="en-US" altLang="zh-CN" sz="1600" b="1" dirty="0"/>
              <a:t>2. Data Transmission</a:t>
            </a:r>
          </a:p>
          <a:p>
            <a:r>
              <a:rPr lang="en-US" altLang="zh-CN" sz="1600" dirty="0"/>
              <a:t>Processed data transmitted via </a:t>
            </a:r>
            <a:r>
              <a:rPr lang="en-US" altLang="zh-CN" sz="1600" b="1" dirty="0" err="1"/>
              <a:t>LoRa</a:t>
            </a:r>
            <a:r>
              <a:rPr lang="en-US" altLang="zh-CN" sz="1600" dirty="0"/>
              <a:t> to the central server.</a:t>
            </a:r>
          </a:p>
          <a:p>
            <a:pPr marL="0" indent="0">
              <a:buNone/>
            </a:pPr>
            <a:r>
              <a:rPr lang="en-US" altLang="zh-CN" sz="1600" b="1" dirty="0"/>
              <a:t>3. Server Processing &amp; Storage</a:t>
            </a:r>
          </a:p>
          <a:p>
            <a:r>
              <a:rPr lang="en-US" altLang="zh-CN" sz="1600" dirty="0"/>
              <a:t>A neural network predicts </a:t>
            </a:r>
            <a:r>
              <a:rPr lang="en-US" altLang="zh-CN" sz="1600" b="1" dirty="0"/>
              <a:t>fecal contamination</a:t>
            </a:r>
            <a:r>
              <a:rPr lang="en-US" altLang="zh-CN" sz="1600" dirty="0"/>
              <a:t> and </a:t>
            </a:r>
            <a:r>
              <a:rPr lang="en-US" altLang="zh-CN" sz="1600" b="1" dirty="0"/>
              <a:t>E. coli levels</a:t>
            </a:r>
            <a:r>
              <a:rPr lang="en-US" altLang="zh-CN" sz="1600" dirty="0"/>
              <a:t>, storing the results.</a:t>
            </a:r>
          </a:p>
          <a:p>
            <a:pPr marL="0" indent="0">
              <a:buNone/>
            </a:pPr>
            <a:r>
              <a:rPr lang="en-US" altLang="zh-CN" sz="1600" b="1" dirty="0"/>
              <a:t>4. Data Distribution</a:t>
            </a:r>
          </a:p>
          <a:p>
            <a:r>
              <a:rPr lang="en-US" altLang="zh-CN" sz="1600" dirty="0"/>
              <a:t>Send processed and predicted data to the app via </a:t>
            </a:r>
            <a:r>
              <a:rPr lang="en-US" altLang="zh-CN" sz="1600" b="1" dirty="0"/>
              <a:t>MQTT</a:t>
            </a:r>
            <a:r>
              <a:rPr lang="en-US" altLang="zh-CN" sz="1600" dirty="0"/>
              <a:t>.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8E3AC1-D7A5-40C2-92D8-C386497C901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r>
              <a:rPr lang="en-GB" altLang="zh-CN" dirty="0" err="1"/>
              <a:t>BlueGuardian</a:t>
            </a:r>
            <a:r>
              <a:rPr lang="en-GB" altLang="zh-CN" dirty="0"/>
              <a:t>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74C8EB5-3667-4442-91AD-59FBC900A8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25"/>
          <a:stretch/>
        </p:blipFill>
        <p:spPr>
          <a:xfrm>
            <a:off x="115766" y="71920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A9F4A0A-B8EF-4AFC-AB52-4C76795177CD}"/>
              </a:ext>
            </a:extLst>
          </p:cNvPr>
          <p:cNvSpPr/>
          <p:nvPr/>
        </p:nvSpPr>
        <p:spPr>
          <a:xfrm>
            <a:off x="796803" y="1935480"/>
            <a:ext cx="3657600" cy="6629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Data Collection</a:t>
            </a:r>
            <a:endParaRPr lang="zh-CN" altLang="en-US" sz="28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6D4012-8DFC-4B6D-9511-A3387C774C7F}"/>
              </a:ext>
            </a:extLst>
          </p:cNvPr>
          <p:cNvSpPr/>
          <p:nvPr/>
        </p:nvSpPr>
        <p:spPr>
          <a:xfrm>
            <a:off x="796803" y="2903220"/>
            <a:ext cx="3657600" cy="6629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800" dirty="0"/>
              <a:t>Data Transmission</a:t>
            </a:r>
            <a:endParaRPr lang="zh-CN" altLang="en-US" sz="2800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D439AC-B0B8-4F86-B15C-8DEEF211E8AE}"/>
              </a:ext>
            </a:extLst>
          </p:cNvPr>
          <p:cNvSpPr/>
          <p:nvPr/>
        </p:nvSpPr>
        <p:spPr>
          <a:xfrm>
            <a:off x="796803" y="3870960"/>
            <a:ext cx="3657600" cy="6629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Server Processing &amp; Storage</a:t>
            </a:r>
            <a:endParaRPr lang="zh-CN" altLang="en-US" sz="2000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8C0FC5F-CFCD-482D-AE01-2A2E3670B0D1}"/>
              </a:ext>
            </a:extLst>
          </p:cNvPr>
          <p:cNvSpPr/>
          <p:nvPr/>
        </p:nvSpPr>
        <p:spPr>
          <a:xfrm>
            <a:off x="796803" y="4824413"/>
            <a:ext cx="3657600" cy="6629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Data Distribution</a:t>
            </a:r>
            <a:endParaRPr lang="zh-CN" altLang="en-US" sz="2800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466257BB-DE58-4E33-8662-C240397DC0C5}"/>
              </a:ext>
            </a:extLst>
          </p:cNvPr>
          <p:cNvSpPr/>
          <p:nvPr/>
        </p:nvSpPr>
        <p:spPr>
          <a:xfrm>
            <a:off x="1882653" y="2637949"/>
            <a:ext cx="1485900" cy="2219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17B4E3E7-5CDF-4CE0-8C1E-A3760E620737}"/>
              </a:ext>
            </a:extLst>
          </p:cNvPr>
          <p:cNvSpPr/>
          <p:nvPr/>
        </p:nvSpPr>
        <p:spPr>
          <a:xfrm>
            <a:off x="1882653" y="3605689"/>
            <a:ext cx="1485900" cy="2219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25A46E59-64A3-4B41-9ADC-8490CCE50CEA}"/>
              </a:ext>
            </a:extLst>
          </p:cNvPr>
          <p:cNvSpPr/>
          <p:nvPr/>
        </p:nvSpPr>
        <p:spPr>
          <a:xfrm>
            <a:off x="1882653" y="4568190"/>
            <a:ext cx="1485900" cy="2219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96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 descr="水上桥梁的鸟瞰图">
            <a:extLst>
              <a:ext uri="{FF2B5EF4-FFF2-40B4-BE49-F238E27FC236}">
                <a16:creationId xmlns:a16="http://schemas.microsoft.com/office/drawing/2014/main" id="{A02A293F-91B7-40E6-B378-A5EED474FF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9DD519AC-7392-4C53-9E3F-08F1208B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副标题 7">
            <a:extLst>
              <a:ext uri="{FF2B5EF4-FFF2-40B4-BE49-F238E27FC236}">
                <a16:creationId xmlns:a16="http://schemas.microsoft.com/office/drawing/2014/main" id="{9A294210-0A3A-40B7-8019-FDFD9DA75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zhuohang2024@163.com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ABAD79F-DC94-4F5D-8A43-C69B1B42666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8614" y="4836222"/>
            <a:ext cx="4329746" cy="337758"/>
          </a:xfrm>
        </p:spPr>
        <p:txBody>
          <a:bodyPr rtlCol="0">
            <a:normAutofit fontScale="62500" lnSpcReduction="20000"/>
          </a:bodyPr>
          <a:lstStyle/>
          <a:p>
            <a:r>
              <a:rPr lang="en-US" altLang="zh-CN" dirty="0">
                <a:hlinkClick r:id="rId4"/>
              </a:rPr>
              <a:t>Headmaster218/Thames-pollution-detect-IoT: Use inorganic sensors and Machine Learning to detect the wastes in rivers.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B6F646-6991-4753-9FD7-E0B5AB0665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525"/>
          <a:stretch/>
        </p:blipFill>
        <p:spPr>
          <a:xfrm>
            <a:off x="10479857" y="285656"/>
            <a:ext cx="1440000" cy="143114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044043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Custom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404040"/>
      </a:accent2>
      <a:accent3>
        <a:srgbClr val="7F7F7F"/>
      </a:accent3>
      <a:accent4>
        <a:srgbClr val="C7A2E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4307612_TF33468121" id="{9CA4D2E9-AA48-41CA-80BD-040EC7F7BD62}" vid="{3E200B6B-40DC-4394-AADF-2C561B0F818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949B46-24C4-420B-AB49-DDC88FEB99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46D58D-B27D-4B23-AEA1-AE974AB622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0CE401-796E-4493-905E-4DDA5AF62AB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海岸演示文稿</Template>
  <TotalTime>0</TotalTime>
  <Words>377</Words>
  <Application>Microsoft Office PowerPoint</Application>
  <PresentationFormat>宽屏</PresentationFormat>
  <Paragraphs>61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 UI</vt:lpstr>
      <vt:lpstr>Arial</vt:lpstr>
      <vt:lpstr>Calibri</vt:lpstr>
      <vt:lpstr>Office 主题</vt:lpstr>
      <vt:lpstr>Real-time river monitor</vt:lpstr>
      <vt:lpstr>App overview</vt:lpstr>
      <vt:lpstr>Homepage Design</vt:lpstr>
      <vt:lpstr>River Detail Page</vt:lpstr>
      <vt:lpstr>Sensor Detail Page</vt:lpstr>
      <vt:lpstr>sensor graphic Page</vt:lpstr>
      <vt:lpstr>Backend Data 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2025-02-28T14:18:45Z</dcterms:created>
  <dcterms:modified xsi:type="dcterms:W3CDTF">2025-03-01T18:25:03Z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